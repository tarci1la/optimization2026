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914400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67774" y="1389888"/>
            <a:ext cx="784555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1865376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2340864"/>
            <a:ext cx="927202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4390" y="2816352"/>
            <a:ext cx="1212494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25128" y="3291840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6766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· ESTRUTURA E DECOMPOSIÇÃO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1945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 e as decomposições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676656" y="33832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a estrutura de  min cᵀx  s.a.  Ax = b  no machine scheduling e no job shop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3232" y="5806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 toy · padrão de esparsidade · blocos e acoplamentos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OLHAR PARA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A ⇒ decomposição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forma padrão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cᵀx  s.a.  Ax = b, x ≥ 0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(folgas convertem ≤ em =; suas colunas são uma identidade que </a:t>
            </a:r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estrutura em blocos). O padrão de esparsidade de A revela como o problema se separa.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3017520"/>
            <a:ext cx="777240" cy="777240"/>
          </a:xfrm>
          <a:prstGeom prst="ellipse">
            <a:avLst/>
          </a:prstGeom>
          <a:solidFill>
            <a:srgbClr val="2C5F2D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200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Blocos na diagonal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4434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quase independentes (por job, por máquina) — a base para decompor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1688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3017520"/>
            <a:ext cx="777240" cy="777240"/>
          </a:xfrm>
          <a:prstGeom prst="ellipse">
            <a:avLst/>
          </a:prstGeom>
          <a:solidFill>
            <a:srgbClr val="C0492F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200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 linking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36008" y="4434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restrições acoplam os blocos → Dantzig-Wolfe / relaxação Lagrangiana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65008" y="27432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3017520"/>
            <a:ext cx="777240" cy="777240"/>
          </a:xfrm>
          <a:prstGeom prst="ellipse">
            <a:avLst/>
          </a:prstGeom>
          <a:solidFill>
            <a:srgbClr val="E8A33D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2004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Colunas linking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39328" y="4434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variáveis complicadoras (binárias, Cmax) → decomposição de Benders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SCHEDULING (1 MÁQUINA, 3 JOBS)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 é bloco-angular</a:t>
            </a:r>
            <a:endParaRPr lang="en-US" sz="3100" dirty="0"/>
          </a:p>
        </p:txBody>
      </p:sp>
      <p:pic>
        <p:nvPicPr>
          <p:cNvPr id="4" name="Image 0" descr="figs_A/ms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040880" cy="46690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691640"/>
            <a:ext cx="3794760" cy="109728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blocos-job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2148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release/duração/atraso de cada job ficam em blocos independentes na diagonal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794760" cy="109728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9050">
            <a:solidFill>
              <a:srgbClr val="C049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3081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 de disjunção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0" y="34290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 pares de jobs — são as linhas linking (borda inferior)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4251960"/>
            <a:ext cx="3794760" cy="109728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361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colunas binárias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55280" y="4709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z_ij só aparecem nas disjunções, com os coeficientes ±M — colunas linking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26680" y="5577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Fixar as binárias z ⇒ o que sobra é um LP separável (apenas tempos).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DA 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borda sugere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0384A"/>
          </a:solidFill>
          <a:ln w="19050">
            <a:solidFill>
              <a:srgbClr val="E8A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93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Benders (lógico) — colunas binárias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sequenciamento (binárias z).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de tempos (start/finish/atraso) com z fixo — separável por job.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viabilidade/otimalidade realimentam o master (logic-based Benders, Hooker).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0384A"/>
          </a:solidFill>
          <a:ln w="19050">
            <a:solidFill>
              <a:srgbClr val="C0492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993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Lagrangiano / Dantzig-Wolfe — linhas linking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Relaxar/precificar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linhas de disjunção desacopla os blocos-job — cada job vira um subproblema próprio.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há muitos jobs e o acoplamento de máquina é “fino”. Os multiplicadores ajustam a contenção da máquina iterativamente.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(2 JOBS × 3 MÁQUINAS) — ORDENADO POR JOB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Blocos por job + disjunções linking</a:t>
            </a:r>
            <a:endParaRPr lang="en-US" sz="3100" dirty="0"/>
          </a:p>
        </p:txBody>
      </p:sp>
      <p:pic>
        <p:nvPicPr>
          <p:cNvPr id="4" name="Image 0" descr="figs_A/js_A_byj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06640" cy="4336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91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02752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blocos-job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02752" y="2112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precedências de cada job na diagonal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2834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2752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Cmax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302752" y="3255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linking global — acopla todos os jobs (linhas de makespan)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3977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C049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disjunções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302752" y="4398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linking entre jobs (mesma máquina)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521208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0E2A38"/>
          </a:solidFill>
          <a:ln/>
        </p:spPr>
      </p:sp>
      <p:sp>
        <p:nvSpPr>
          <p:cNvPr id="15" name="Text 12"/>
          <p:cNvSpPr/>
          <p:nvPr/>
        </p:nvSpPr>
        <p:spPr>
          <a:xfrm>
            <a:off x="8302752" y="52852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Relaxar disjunções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um subproblema por job.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 — ORDENADO POR MÁQUINA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Reordene e surge outra decomposição</a:t>
            </a:r>
            <a:endParaRPr lang="en-US" sz="3100" dirty="0"/>
          </a:p>
        </p:txBody>
      </p:sp>
      <p:pic>
        <p:nvPicPr>
          <p:cNvPr id="4" name="Image 0" descr="figs_A/js_A_by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406640" cy="43466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91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1C5D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02752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5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blocos-máquina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02752" y="2112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disjunções de cada máquina agora formam blocos na diagonal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2834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C049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2752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02752" y="3255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linha linking (um job cruza várias máquinas)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397764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F1F6F7"/>
          </a:solidFill>
          <a:ln w="19050">
            <a:solidFill>
              <a:srgbClr val="0E2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shifting bottleneck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02752" y="43982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relaxar precedência ⇒ subproblemas de 1 máquina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521208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0E2A38"/>
          </a:solidFill>
          <a:ln/>
        </p:spPr>
      </p:sp>
      <p:sp>
        <p:nvSpPr>
          <p:cNvPr id="15" name="Text 12"/>
          <p:cNvSpPr/>
          <p:nvPr/>
        </p:nvSpPr>
        <p:spPr>
          <a:xfrm>
            <a:off x="8302752" y="52852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A,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decomposições — escolha o que vira “fácil”.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A → método de decomposição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65176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observada em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 /  Subproblema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Blocos na diagonal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partes independentes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para decompor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Colunas binárias linking (z, Cmax)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complicadoras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Benders (lógico)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binárias  /  LP de tempos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 linking (disjunções)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acoplam blocos-job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Lagrangiano / Dantzig-Wolfe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  /  subproblema por 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Linhas linking (precedência) — JSP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acoplam blocos-máquina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relaxar precedência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  /  1-máquina (shifting bottleneck)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são MILPs, “Benders” aqui é tipicamente combinatório / lógico (corte sobre as binárias); a leitura em blocos da relaxação contínua é o que habilita Dantzig-Wolfe e Lagrangiano.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é o mapa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Olhe A primeiro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+ bordas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escolher solver, veja onde o problema separa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 vs colunas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3600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Lagrangiano/DW vs Benders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600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acopla decide o método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JSP: duas vias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39328" y="3401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 máquina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39328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relaxar disjunção ⇒ por job; precedência ⇒ por máquina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553212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cᵀx  s.a.  Ax = b   |   machine scheduling &amp; job shop — formulação disjuntiva big-M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de A e decomposições</dc:title>
  <dc:subject>PptxGenJS Presentation</dc:subject>
  <dc:creator>Material de aula</dc:creator>
  <cp:lastModifiedBy>Material de aula</cp:lastModifiedBy>
  <cp:revision>1</cp:revision>
  <dcterms:created xsi:type="dcterms:W3CDTF">2026-06-20T02:13:46Z</dcterms:created>
  <dcterms:modified xsi:type="dcterms:W3CDTF">2026-06-20T02:13:46Z</dcterms:modified>
</cp:coreProperties>
</file>