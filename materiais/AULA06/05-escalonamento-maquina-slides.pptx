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Atraso total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A3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Ordem df</c:v>
                  </c:pt>
                  <c:pt idx="1">
                    <c:v>SPT</c:v>
                  </c:pt>
                  <c:pt idx="2">
                    <c:v>FIFO</c:v>
                  </c:pt>
                  <c:pt idx="3">
                    <c:v>EDD</c:v>
                  </c:pt>
                  <c:pt idx="4">
                    <c:v>Ótimo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51</c:v>
                </c:pt>
                <c:pt idx="2">
                  <c:v>31</c:v>
                </c:pt>
                <c:pt idx="3">
                  <c:v>27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914400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67774" y="1389888"/>
            <a:ext cx="784555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1865376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83219" y="2340864"/>
            <a:ext cx="927202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4390" y="2816352"/>
            <a:ext cx="1212494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25128" y="3291840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6766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 ·  PROGRAMAÇÃO INTEIRA MISTA (MILO)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2860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Escalonamento de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Única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76656" y="4297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empíricas, programação disjuntiva (GDP) e a técnica big-M em Pyomo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13232" y="5806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 do notebook 3.5 — Hands-On Mathematical Optimization with Python (MO-book)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“Qual tarefa fazer a seguir?”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escolhendo o próximo exercício, entregador roteirizando pacotes, garçom atendendo mesas, processador escalonando </a:t>
            </a:r>
            <a:pPr algn="l"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ou uma máquina em uma linha de montagem: todos enfrentam a mesma pergunta.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58368" y="32004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em uma única máquina. 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tem instante de liberação (release), duração (duration) e prazo (due). Buscamos uma sequência que respeite os prazos — ou, se impossível, a “menos ruim”.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80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a soma dos atrasos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3429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Σⱼ  pastⱼ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68096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 pastⱼ = atraso da tarefa j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0" y="4617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C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 objetivo: nº de tarefas atrasadas · maior atraso · soma dos atrasos.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7 tarefas do exemplo</a:t>
            </a:r>
            <a:endParaRPr lang="en-US" sz="3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46304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828800"/>
            <a:ext cx="4663440" cy="987552"/>
          </a:xfrm>
          <a:prstGeom prst="roundRect">
            <a:avLst>
              <a:gd name="adj" fmla="val 925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2140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1956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635240" y="2304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em que a tarefa fica disponível para processamento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858000" y="2971800"/>
            <a:ext cx="4663440" cy="987552"/>
          </a:xfrm>
          <a:prstGeom prst="roundRect">
            <a:avLst>
              <a:gd name="adj" fmla="val 925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26440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3099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635240" y="3447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processamento contínuo na máquina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858000" y="4114800"/>
            <a:ext cx="4663440" cy="987552"/>
          </a:xfrm>
          <a:prstGeom prst="roundRect">
            <a:avLst>
              <a:gd name="adj" fmla="val 925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40740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35240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635240" y="4590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entrega; ultrapassá-lo gera atraso (past)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gráfico de Gantt</a:t>
            </a:r>
            <a:endParaRPr lang="en-US" sz="3300" dirty="0"/>
          </a:p>
        </p:txBody>
      </p:sp>
      <p:pic>
        <p:nvPicPr>
          <p:cNvPr id="4" name="Image 0" descr="figs/gantt_ord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8778240" cy="32392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 dataframe (sem otimizar): atraso total = 68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601200" y="1965960"/>
            <a:ext cx="320040" cy="320040"/>
          </a:xfrm>
          <a:prstGeom prst="rect">
            <a:avLst/>
          </a:prstGeom>
          <a:solidFill>
            <a:srgbClr val="B9C2C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release–due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8400" y="2267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permitido para a tarefa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0" y="3017520"/>
            <a:ext cx="320040" cy="3200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 no prazo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0" y="33192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termina antes do due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0" y="4069080"/>
            <a:ext cx="320040" cy="320040"/>
          </a:xfrm>
          <a:prstGeom prst="rect">
            <a:avLst/>
          </a:prstGeom>
          <a:solidFill>
            <a:srgbClr val="C0492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 com atraso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058400" y="43708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ultrapassa o due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regras empíricas clássicas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868680" cy="868680"/>
          </a:xfrm>
          <a:prstGeom prst="ellipse">
            <a:avLst/>
          </a:prstGeom>
          <a:solidFill>
            <a:srgbClr val="F1F6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591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4248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3268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2688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na ordem de liberação (release) — primeiro a chegar, primeiro a ser atendido.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 </a:t>
            </a:r>
            <a:pPr indent="0" marL="0"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61688" y="18288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2148840"/>
            <a:ext cx="868680" cy="868680"/>
          </a:xfrm>
          <a:prstGeom prst="ellipse">
            <a:avLst/>
          </a:prstGeom>
          <a:solidFill>
            <a:srgbClr val="F1F6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5915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87568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EDD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63600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due date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36008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o prazo mais cedo (due) — a lógica do estudante diante das entregas.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36008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 </a:t>
            </a:r>
            <a:pPr indent="0" marL="0"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65008" y="18288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2148840"/>
            <a:ext cx="868680" cy="868680"/>
          </a:xfrm>
          <a:prstGeom prst="ellipse">
            <a:avLst/>
          </a:prstGeom>
          <a:solidFill>
            <a:srgbClr val="F1F6F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59152"/>
            <a:ext cx="448056" cy="4480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90888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SPT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339328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processing time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39328" y="3611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a menor duração (duration) — tarefas curtas primeiro.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39328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 </a:t>
            </a:r>
            <a:pPr indent="0" marL="0">
              <a:buNone/>
            </a:pPr>
            <a:r>
              <a:rPr lang="en-US" sz="13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58368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Rápidas e simples — mas, em geral, subótimas.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· 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Rápidas, porém subótimas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011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3346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total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90088" y="18288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011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99008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90088" y="3346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total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21808" y="182880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20116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32180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21808" y="3346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total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(GDP / MILO)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total mínimo</a:t>
            </a:r>
            <a:endParaRPr lang="en-US" sz="1150" dirty="0"/>
          </a:p>
        </p:txBody>
      </p:sp>
      <p:pic>
        <p:nvPicPr>
          <p:cNvPr id="21" name="Image 0" descr="figs/gantt_e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4023360"/>
            <a:ext cx="6400800" cy="236191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54480" y="6400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heurística (EDD): atraso 27 — ainda 11 acima do ótimo.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OTIMIZAÇÃO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Variáveis, objetivo e restrições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de decisão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286000" y="2542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em que a tarefa j inicia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081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8600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em que a tarefa j termina (auxiliar)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648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286000" y="3675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da tarefa j ≥ 0 (auxiliar)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343400"/>
            <a:ext cx="4572000" cy="0"/>
          </a:xfrm>
          <a:prstGeom prst="line">
            <a:avLst/>
          </a:prstGeom>
          <a:noFill/>
          <a:ln w="12700">
            <a:solidFill>
              <a:srgbClr val="D7E3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objetivo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Σⱼ  pastⱼ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Restrições lineares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126480" y="24231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96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startⱼ ≥ releaseⱼ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843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 antes de ser liberada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26440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finishⱼ = startⱼ + durationⱼ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3685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contínuo até terminar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10565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78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pastⱼ ≥ finishⱼ − dueⱼ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atraso...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94690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020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pastⱼ ≥ 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5367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...que nunca é negativo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RESTRIÇÃO-CHAVE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sobrepor tarefas na máquina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par 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 j</a:t>
            </a:r>
            <a:pPr indent="0" marL="0"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ou </a:t>
            </a:r>
            <a:pPr indent="0" marL="0">
              <a:buNone/>
            </a:pPr>
            <a:r>
              <a:rPr lang="en-US" sz="1700" b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 antes de </a:t>
            </a:r>
            <a:pPr indent="0" marL="0">
              <a:buNone/>
            </a:pPr>
            <a:r>
              <a:rPr lang="en-US" sz="1700" b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pPr indent="0" marL="0"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começar, ou o contrário. É uma </a:t>
            </a:r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</a:t>
            </a:r>
            <a:pPr indent="0" marL="0">
              <a:buNone/>
            </a:pPr>
            <a:r>
              <a:rPr lang="en-US" sz="17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188720" y="2514600"/>
            <a:ext cx="9784080" cy="1417320"/>
          </a:xfrm>
          <a:prstGeom prst="roundRect">
            <a:avLst>
              <a:gd name="adj" fmla="val 7742"/>
            </a:avLst>
          </a:prstGeom>
          <a:solidFill>
            <a:srgbClr val="10384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7889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finishᵢ ≤ startⱼ ]</a:t>
            </a:r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⊻    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finishⱼ ≤ startᵢ 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4564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 i &lt; j        (⊻ = ou-exclusivo)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43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4370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 em Pyomo com o componente Disjunction: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484632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A2230"/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98348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@m.Disjunction(m.PAIRS, xor=True)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machine_deconflict(m, a, b):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[m.finish[a] &lt;= m.start[b], m.finish[b] &lt;= m.start[a]]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pyo.TransformationFactory("gdp.bigm").apply_to(m)   # converte GDP → MILO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ótima via GDP</a:t>
            </a:r>
            <a:endParaRPr lang="en-US" sz="3300" dirty="0"/>
          </a:p>
        </p:txBody>
      </p:sp>
      <p:pic>
        <p:nvPicPr>
          <p:cNvPr id="4" name="Image 0" descr="figs/gantt_g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8595360" cy="317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92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Minimizando o atraso total — todas as tarefas reorganizadas pelo solver.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326880" y="2194560"/>
            <a:ext cx="2377440" cy="2560320"/>
          </a:xfrm>
          <a:prstGeom prst="roundRect">
            <a:avLst>
              <a:gd name="adj" fmla="val 4615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4688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0" y="2971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932688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total ótimo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3268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todas as heurísticas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EQUIVALENTE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MILO com a técnica big-M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 uma binária </a:t>
            </a:r>
            <a:pPr indent="0" marL="0">
              <a:buNone/>
            </a:pPr>
            <a:r>
              <a:rPr lang="en-US" sz="16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zᵢⱼ ∈ {0,1}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disjunção, linearizando a lógica “ou-exclusivo”: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9418320" cy="1554480"/>
          </a:xfrm>
          <a:prstGeom prst="roundRect">
            <a:avLst>
              <a:gd name="adj" fmla="val 7059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6060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finishᵢ ≤ startⱼ + M · zᵢⱼ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finishⱼ ≤ startᵢ + M · (1 − zᵢⱼ)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572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18488" y="4572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Equivalente, porém maior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78408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solução ótima (atraso 16), mas muitas variáveis binárias a mais — em geral mais lento.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90488" y="42976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5720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4572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 com o M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510528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muito grande enfraquece a relaxação linear e tende a piorar o tempo de resolução.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 × ótimo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aula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5059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880" y="23774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são rápidas — a melhor (EDD = 27) ainda fica 11 acima do ótimo.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364992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83880" y="32918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deixa a lógica disjuntiva explícita e legível; Pyomo a converte para MILO.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279392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83880" y="42062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big-M é equivalente, mas a relaxação depende do valor de M.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519379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183880" y="51206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instâncias grandes, heurísticas voltam a ser indispensáveis.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630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problema,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caminhos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58368" y="32918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· EDD · SPT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simples e rápidas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32918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36008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disjuntiva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explícita, converte p/ MILO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32918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9328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equivalente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linearização clássica das disjunções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5806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MO-book · cap. 3.5 Machine Scheduling   |   dados: Guéret, Prins &amp; Sevaux (2000)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Escalonamento de Máquina Única</dc:title>
  <dc:subject>PptxGenJS Presentation</dc:subject>
  <dc:creator>Material de aula</dc:creator>
  <cp:lastModifiedBy>Material de aula</cp:lastModifiedBy>
  <cp:revision>1</cp:revision>
  <dcterms:created xsi:type="dcterms:W3CDTF">2026-06-20T01:07:28Z</dcterms:created>
  <dcterms:modified xsi:type="dcterms:W3CDTF">2026-06-20T01:07:28Z</dcterms:modified>
</cp:coreProperties>
</file>