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914400"/>
            <a:ext cx="1069848" cy="310896"/>
          </a:xfrm>
          <a:prstGeom prst="roundRect">
            <a:avLst>
              <a:gd name="adj" fmla="val 14706"/>
            </a:avLst>
          </a:prstGeom>
          <a:solidFill>
            <a:srgbClr val="14B8A6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67774" y="1389888"/>
            <a:ext cx="784555" cy="310896"/>
          </a:xfrm>
          <a:prstGeom prst="roundRect">
            <a:avLst>
              <a:gd name="adj" fmla="val 14706"/>
            </a:avLst>
          </a:prstGeom>
          <a:solidFill>
            <a:srgbClr val="E8A33D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94976" y="1865376"/>
            <a:ext cx="1069848" cy="310896"/>
          </a:xfrm>
          <a:prstGeom prst="roundRect">
            <a:avLst>
              <a:gd name="adj" fmla="val 14706"/>
            </a:avLst>
          </a:prstGeom>
          <a:solidFill>
            <a:srgbClr val="0E7C86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383219" y="2340864"/>
            <a:ext cx="927202" cy="310896"/>
          </a:xfrm>
          <a:prstGeom prst="roundRect">
            <a:avLst>
              <a:gd name="adj" fmla="val 14706"/>
            </a:avLst>
          </a:prstGeom>
          <a:solidFill>
            <a:srgbClr val="E8A33D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24390" y="2816352"/>
            <a:ext cx="1212494" cy="310896"/>
          </a:xfrm>
          <a:prstGeom prst="roundRect">
            <a:avLst>
              <a:gd name="adj" fmla="val 14706"/>
            </a:avLst>
          </a:prstGeom>
          <a:solidFill>
            <a:srgbClr val="14B8A6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25128" y="3291840"/>
            <a:ext cx="713232" cy="310896"/>
          </a:xfrm>
          <a:prstGeom prst="roundRect">
            <a:avLst>
              <a:gd name="adj" fmla="val 14706"/>
            </a:avLst>
          </a:prstGeom>
          <a:solidFill>
            <a:srgbClr val="0E7C86">
              <a:alpha val="88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6766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· ESCALONAMENTO EM MÁQUINAS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22402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Shop Scheduling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676656" y="342900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máquina única ao JSP — instâncias JSPLIB e a formulação disjuntiva (MILO)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13232" y="580644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JSPLIB · benchmark do job-shop (minimização do makespan)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Job Shop Scheduling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6583680" cy="914400"/>
          </a:xfrm>
          <a:prstGeom prst="roundRect">
            <a:avLst>
              <a:gd name="adj" fmla="val 10000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391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1109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= sequência de operações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63040" y="225856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job percorre as máquinas em uma ordem fixa (ordem tecnológica)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58368" y="2834640"/>
            <a:ext cx="6583680" cy="914400"/>
          </a:xfrm>
          <a:prstGeom prst="roundRect">
            <a:avLst>
              <a:gd name="adj" fmla="val 10000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09067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96265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Operação = (máquina, duração)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463040" y="33101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k do job j roda na máquina μ(j,k) por p(j,k) unidades de tempo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58368" y="3886200"/>
            <a:ext cx="6583680" cy="914400"/>
          </a:xfrm>
          <a:prstGeom prst="roundRect">
            <a:avLst>
              <a:gd name="adj" fmla="val 10000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142232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01421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= 1 operação por vez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463040" y="436168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exclusivo: operações na mesma máquina não se sobrepõem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589520" y="178308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0E2A38"/>
          </a:solidFill>
          <a:ln/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1031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4964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909560" y="2834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o makespan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7909560" y="3291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Cₘₐₓ</a:t>
            </a:r>
            <a:endParaRPr lang="en-US" sz="3800" dirty="0"/>
          </a:p>
        </p:txBody>
      </p:sp>
      <p:sp>
        <p:nvSpPr>
          <p:cNvPr id="21" name="Text 15"/>
          <p:cNvSpPr/>
          <p:nvPr/>
        </p:nvSpPr>
        <p:spPr>
          <a:xfrm>
            <a:off x="7909560" y="4160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instante em que a última operação termina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JSPLIB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760720" cy="3108960"/>
          </a:xfrm>
          <a:prstGeom prst="roundRect">
            <a:avLst>
              <a:gd name="adj" fmla="val 2941"/>
            </a:avLst>
          </a:prstGeom>
          <a:solidFill>
            <a:srgbClr val="0A2230"/>
          </a:solidFill>
          <a:ln w="12700">
            <a:solidFill>
              <a:srgbClr val="1E4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instance ft06  (6 jobs × 6 máquinas)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394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6  6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2 1   0 3   1 6   3 7   5 3   4 6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1 8   2 5   4 10  5 10  0 10  3 4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2 5   3 4   5 8   0 9   1 1   4 7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1 5   0 5   2 5   3 3   4 8   5 9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EE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1810512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1ª linha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0" y="1874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jobs e nº de máquinas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587752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(máquina, duração) na ordem do job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3364992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34290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0" y="3429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indexadas a partir de 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4142232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4206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instances.json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0" y="4206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metadados: jobs, machines, optimum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212080"/>
            <a:ext cx="365760" cy="3657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3000" y="52303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instâncias clássicas: FT · LA · ABZ · ORB · SWV · YN · TA  (Fisher-Thompson, Lawrence, Taillard, …)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DO MODELO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famílias de restrições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394960" cy="2468880"/>
          </a:xfrm>
          <a:prstGeom prst="roundRect">
            <a:avLst>
              <a:gd name="adj" fmla="val 4444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Precedência (dentro do job)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k+1 só começa depois da operação k terminar: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sⱼ,ₖ₊₁ ≥ sⱼ,ₖ + pⱼ,ₖ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Disjunção (na máquina)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5146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operações na mesma máquina: uma antes da outra: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o₁ antes de o₂ ]</a:t>
            </a:r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⊻ 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o₂ antes de o₁ 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4572000"/>
            <a:ext cx="10881360" cy="1463040"/>
          </a:xfrm>
          <a:prstGeom prst="roundRect">
            <a:avLst>
              <a:gd name="adj" fmla="val 6250"/>
            </a:avLst>
          </a:prstGeom>
          <a:solidFill>
            <a:srgbClr val="0A2230"/>
          </a:solidFill>
          <a:ln w="19050">
            <a:solidFill>
              <a:srgbClr val="E8A33D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507492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00200" y="48006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mesma disjunção da máquina única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8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agora repetida em cada uma das m máquinas e acoplada pelas precedências dos jobs. O JSP é a generalização direta do que vimos antes.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OTIMIZAÇÃO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Formulação disjuntiva MILO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1F6F7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sⱼ,ₖ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14600" y="25054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operação k do job j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Cₘₐₓ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14600" y="30723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(a minimizar)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6027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∈ {0,1}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3639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em cada par na mesma máquina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297680"/>
            <a:ext cx="4389120" cy="0"/>
          </a:xfrm>
          <a:prstGeom prst="line">
            <a:avLst/>
          </a:prstGeom>
          <a:noFill/>
          <a:ln w="12700">
            <a:solidFill>
              <a:srgbClr val="D7E3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" y="48920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Cₘₐₓ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943600" y="18745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Restrições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943600" y="237744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45059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sⱼ,ₖ₊₁ ≥ sⱼ,ₖ + pⱼ,ₖ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72200" y="28163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precedência (ordem do job)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324612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31927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Cₘₐₓ ≥ sⱼ,último + pⱼ,último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72200" y="36850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makespan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0" y="411480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418795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sₒ₁ + pₒ₁ ≤ sₒ₂ + M(1−x)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172200" y="45537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disjunção, ramo 1 (big-M)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0" y="4983480"/>
            <a:ext cx="5577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5056632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sₒ₂ + pₒ₂ ≤ sₒ₁ + M·x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172200" y="54223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disjunção, ramo 2 (big-M)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ft06 resolvido na otimalidade</a:t>
            </a:r>
            <a:endParaRPr lang="en-US" sz="3300" dirty="0"/>
          </a:p>
        </p:txBody>
      </p:sp>
      <p:pic>
        <p:nvPicPr>
          <p:cNvPr id="4" name="Image 0" descr="figs_jsp/ft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83080"/>
            <a:ext cx="8869680" cy="33095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1208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jobs × 6 máquinas — cada cor é um job percorrendo as máquinas na sua ordem.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9509760" y="2286000"/>
            <a:ext cx="2194560" cy="2377440"/>
          </a:xfrm>
          <a:prstGeom prst="roundRect">
            <a:avLst>
              <a:gd name="adj" fmla="val 5000"/>
            </a:avLst>
          </a:prstGeom>
          <a:solidFill>
            <a:srgbClr val="0E2A38"/>
          </a:solidFill>
          <a:ln/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5603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0976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5800" dirty="0"/>
          </a:p>
        </p:txBody>
      </p:sp>
      <p:sp>
        <p:nvSpPr>
          <p:cNvPr id="9" name="Text 5"/>
          <p:cNvSpPr/>
          <p:nvPr/>
        </p:nvSpPr>
        <p:spPr>
          <a:xfrm>
            <a:off x="950976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ótimo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9509760" y="43159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HiGHS, ~1 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COMPUTACIONAL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ótimo custa caro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143000"/>
                <a:gridCol w="960120"/>
                <a:gridCol w="169164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Instância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× 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ótimo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obtido (HiGHS)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binárias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ft06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× 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ótimo (~1 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la01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×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de tempo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E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× 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04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C04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subótimo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828800"/>
            <a:ext cx="3200400" cy="2194560"/>
          </a:xfrm>
          <a:prstGeom prst="roundRect">
            <a:avLst>
              <a:gd name="adj" fmla="val 5000"/>
            </a:avLst>
          </a:prstGeom>
          <a:solidFill>
            <a:srgbClr val="0E2A38"/>
          </a:solidFill>
          <a:ln/>
          <a:effectLst>
            <a:outerShdw sx="100000" sy="100000" kx="0" ky="0" algn="bl" rotWithShape="0" blurRad="88900" dist="38100" dir="5400000">
              <a:srgbClr val="0E2A38">
                <a:alpha val="14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21031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0" y="21214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Fortemente NP-difícil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595360" y="27432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ft10 (10×10) ficou ~25 anos em aberto até ser resolvida na otimalidade.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58368" y="48006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Binárias crescem com os pares por máquina; o tempo de resolução cresce muito mais rápido. A partir de instâncias 10×10, o solver tende a atingir o limite de tempo e devolver apenas uma solução com gap.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aula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uma máquina a muitas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Precedência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32688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tecnológica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encadeia as operações de cada job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27432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Disjunção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36008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exclusivo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6008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lógica da máquina única, por máquina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2743200"/>
            <a:ext cx="3383280" cy="1920240"/>
          </a:xfrm>
          <a:prstGeom prst="roundRect">
            <a:avLst>
              <a:gd name="adj" fmla="val 4762"/>
            </a:avLst>
          </a:prstGeom>
          <a:solidFill>
            <a:srgbClr val="10384A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Makespan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39328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Cₘₐₓ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exato p/ instâncias pequenas; heurísticas p/ grandes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5532120"/>
            <a:ext cx="201168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JSPLIB (Tamy0612) · 162 instâncias · minimização do makespan   |   modelo disjuntivo big-M em JuMP + HiGHS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Shop Scheduling — JSPLIB</dc:title>
  <dc:subject>PptxGenJS Presentation</dc:subject>
  <dc:creator>Material de aula</dc:creator>
  <cp:lastModifiedBy>Material de aula</cp:lastModifiedBy>
  <cp:revision>1</cp:revision>
  <dcterms:created xsi:type="dcterms:W3CDTF">2026-06-20T01:54:56Z</dcterms:created>
  <dcterms:modified xsi:type="dcterms:W3CDTF">2026-06-20T01:54:56Z</dcterms:modified>
</cp:coreProperties>
</file>